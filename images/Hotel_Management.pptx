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78" r:id="rId5"/>
    <p:sldId id="280" r:id="rId6"/>
    <p:sldId id="298" r:id="rId7"/>
    <p:sldId id="299" r:id="rId8"/>
    <p:sldId id="297" r:id="rId9"/>
    <p:sldId id="283" r:id="rId10"/>
    <p:sldId id="284" r:id="rId11"/>
    <p:sldId id="300" r:id="rId12"/>
    <p:sldId id="286" r:id="rId13"/>
    <p:sldId id="293" r:id="rId14"/>
    <p:sldId id="294" r:id="rId15"/>
    <p:sldId id="285" r:id="rId16"/>
    <p:sldId id="289" r:id="rId17"/>
    <p:sldId id="290" r:id="rId18"/>
    <p:sldId id="287" r:id="rId19"/>
    <p:sldId id="291" r:id="rId20"/>
    <p:sldId id="292" r:id="rId21"/>
    <p:sldId id="296" r:id="rId22"/>
    <p:sldId id="28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1818"/>
    <a:srgbClr val="1D1D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5/6/2024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774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1428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5/6/2024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5/6/2024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5/6/2024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5/6/2024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5/6/2024</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urses.lumenlearning.com/santaana-informationsystems/chapter/designing-information-systems/"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tackoverflow.com/questions/21404278/is-my-use-case-diagram-too-complicated-and-activity-diagram-too-dense"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tackoverflow.com/questions/26066311/entity-relationship-diagram-for-hotel" TargetMode="External"/><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4.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b="1" dirty="0"/>
              <a:t>Online Hotel Management System</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b="0" i="1" dirty="0">
                <a:effectLst/>
                <a:highlight>
                  <a:srgbClr val="181818"/>
                </a:highlight>
                <a:latin typeface="Söhne"/>
              </a:rPr>
              <a:t>Revolutionizing Hospitality Management…</a:t>
            </a:r>
            <a:endParaRPr lang="en-US" sz="2300" i="1" dirty="0">
              <a:solidFill>
                <a:srgbClr val="181818"/>
              </a:solidFill>
            </a:endParaRPr>
          </a:p>
        </p:txBody>
      </p:sp>
    </p:spTree>
    <p:extLst>
      <p:ext uri="{BB962C8B-B14F-4D97-AF65-F5344CB8AC3E}">
        <p14:creationId xmlns:p14="http://schemas.microsoft.com/office/powerpoint/2010/main" val="41678842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9050D-2C31-17AE-0070-D37BA81C025D}"/>
              </a:ext>
            </a:extLst>
          </p:cNvPr>
          <p:cNvSpPr>
            <a:spLocks noGrp="1"/>
          </p:cNvSpPr>
          <p:nvPr>
            <p:ph type="title"/>
          </p:nvPr>
        </p:nvSpPr>
        <p:spPr/>
        <p:txBody>
          <a:bodyPr/>
          <a:lstStyle/>
          <a:p>
            <a:r>
              <a:rPr lang="en-US" sz="4800" b="1" dirty="0"/>
              <a:t>INTRODUCTION</a:t>
            </a:r>
            <a:endParaRPr lang="en-US" dirty="0"/>
          </a:p>
        </p:txBody>
      </p:sp>
      <p:sp>
        <p:nvSpPr>
          <p:cNvPr id="3" name="Content Placeholder 2">
            <a:extLst>
              <a:ext uri="{FF2B5EF4-FFF2-40B4-BE49-F238E27FC236}">
                <a16:creationId xmlns:a16="http://schemas.microsoft.com/office/drawing/2014/main" id="{89B028F5-F9D6-53D7-EB4C-67F09B5BD173}"/>
              </a:ext>
            </a:extLst>
          </p:cNvPr>
          <p:cNvSpPr>
            <a:spLocks noGrp="1"/>
          </p:cNvSpPr>
          <p:nvPr>
            <p:ph idx="1"/>
          </p:nvPr>
        </p:nvSpPr>
        <p:spPr/>
        <p:txBody>
          <a:bodyPr/>
          <a:lstStyle/>
          <a:p>
            <a:pPr marL="36900" indent="0">
              <a:buNone/>
            </a:pPr>
            <a:r>
              <a:rPr lang="en-US" sz="2400" dirty="0">
                <a:solidFill>
                  <a:schemeClr val="tx1"/>
                </a:solidFill>
                <a:highlight>
                  <a:srgbClr val="181818"/>
                </a:highlight>
              </a:rPr>
              <a:t> An online hotel management system is a comprehensive software solution designed to streamline and automate various aspects of hotel operations, ranging from reservations and guest services to billing and reporting. It provides a centralized platform that integrates different functions within a hotel, allowing for efficient management and seamless guest experiences..</a:t>
            </a:r>
          </a:p>
          <a:p>
            <a:pPr marL="36900" indent="0">
              <a:buNone/>
            </a:pPr>
            <a:r>
              <a:rPr lang="en-US" sz="2400" dirty="0">
                <a:solidFill>
                  <a:schemeClr val="tx1"/>
                </a:solidFill>
                <a:highlight>
                  <a:srgbClr val="181818"/>
                </a:highlight>
              </a:rPr>
              <a:t>The system is a critical tool for modern hotels seeking to improve guest experiences, optimize operations, and achieve sustainable growth in a rapidly evolving industry landscape.</a:t>
            </a:r>
            <a:endParaRPr lang="en-US" dirty="0"/>
          </a:p>
        </p:txBody>
      </p:sp>
    </p:spTree>
    <p:extLst>
      <p:ext uri="{BB962C8B-B14F-4D97-AF65-F5344CB8AC3E}">
        <p14:creationId xmlns:p14="http://schemas.microsoft.com/office/powerpoint/2010/main" val="15091241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5" name="Title 4">
            <a:extLst>
              <a:ext uri="{FF2B5EF4-FFF2-40B4-BE49-F238E27FC236}">
                <a16:creationId xmlns:a16="http://schemas.microsoft.com/office/drawing/2014/main" id="{4E84B83F-6C27-4730-BAF6-C3D731089A23}"/>
              </a:ext>
            </a:extLst>
          </p:cNvPr>
          <p:cNvSpPr>
            <a:spLocks noGrp="1"/>
          </p:cNvSpPr>
          <p:nvPr>
            <p:ph type="title"/>
          </p:nvPr>
        </p:nvSpPr>
        <p:spPr>
          <a:xfrm>
            <a:off x="6535271" y="869576"/>
            <a:ext cx="4732286" cy="1167653"/>
          </a:xfrm>
        </p:spPr>
        <p:txBody>
          <a:bodyPr>
            <a:normAutofit/>
          </a:bodyPr>
          <a:lstStyle/>
          <a:p>
            <a:r>
              <a:rPr lang="en-US" sz="3800" b="1" dirty="0"/>
              <a:t>KEY COMPONENTS</a:t>
            </a:r>
          </a:p>
        </p:txBody>
      </p:sp>
      <p:sp>
        <p:nvSpPr>
          <p:cNvPr id="6" name="Content Placeholder 2">
            <a:extLst>
              <a:ext uri="{FF2B5EF4-FFF2-40B4-BE49-F238E27FC236}">
                <a16:creationId xmlns:a16="http://schemas.microsoft.com/office/drawing/2014/main" id="{76B14A7C-31EE-A3EB-9558-7B8441F7A715}"/>
              </a:ext>
            </a:extLst>
          </p:cNvPr>
          <p:cNvSpPr>
            <a:spLocks noGrp="1"/>
          </p:cNvSpPr>
          <p:nvPr>
            <p:ph idx="1"/>
          </p:nvPr>
        </p:nvSpPr>
        <p:spPr>
          <a:xfrm>
            <a:off x="6535271" y="2187388"/>
            <a:ext cx="4732286" cy="3603811"/>
          </a:xfrm>
        </p:spPr>
        <p:txBody>
          <a:bodyPr/>
          <a:lstStyle/>
          <a:p>
            <a:r>
              <a:rPr lang="en-US" dirty="0"/>
              <a:t>Reservation Management</a:t>
            </a:r>
          </a:p>
          <a:p>
            <a:r>
              <a:rPr lang="en-US" dirty="0"/>
              <a:t>Guest Services</a:t>
            </a:r>
          </a:p>
          <a:p>
            <a:r>
              <a:rPr lang="en-US" dirty="0"/>
              <a:t>Room Booking</a:t>
            </a:r>
          </a:p>
          <a:p>
            <a:r>
              <a:rPr lang="en-US" dirty="0"/>
              <a:t>Front Desk Operations</a:t>
            </a:r>
          </a:p>
          <a:p>
            <a:r>
              <a:rPr lang="en-US" dirty="0"/>
              <a:t>Reporting and Analytics</a:t>
            </a:r>
          </a:p>
          <a:p>
            <a:r>
              <a:rPr lang="en-US" dirty="0"/>
              <a:t>Integration Capabilities</a:t>
            </a:r>
          </a:p>
          <a:p>
            <a:pPr marL="36900" indent="0">
              <a:buNone/>
            </a:pPr>
            <a:endParaRPr lang="en-US" dirty="0"/>
          </a:p>
        </p:txBody>
      </p:sp>
    </p:spTree>
    <p:extLst>
      <p:ext uri="{BB962C8B-B14F-4D97-AF65-F5344CB8AC3E}">
        <p14:creationId xmlns:p14="http://schemas.microsoft.com/office/powerpoint/2010/main" val="14728464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5" name="Title 4">
            <a:extLst>
              <a:ext uri="{FF2B5EF4-FFF2-40B4-BE49-F238E27FC236}">
                <a16:creationId xmlns:a16="http://schemas.microsoft.com/office/drawing/2014/main" id="{4E84B83F-6C27-4730-BAF6-C3D731089A23}"/>
              </a:ext>
            </a:extLst>
          </p:cNvPr>
          <p:cNvSpPr>
            <a:spLocks noGrp="1"/>
          </p:cNvSpPr>
          <p:nvPr>
            <p:ph type="title"/>
          </p:nvPr>
        </p:nvSpPr>
        <p:spPr>
          <a:xfrm>
            <a:off x="6535271" y="869576"/>
            <a:ext cx="4732286" cy="1167653"/>
          </a:xfrm>
        </p:spPr>
        <p:txBody>
          <a:bodyPr>
            <a:normAutofit/>
          </a:bodyPr>
          <a:lstStyle/>
          <a:p>
            <a:r>
              <a:rPr lang="en-US" sz="4000" b="1" dirty="0"/>
              <a:t>IMPORTANCE</a:t>
            </a:r>
            <a:endParaRPr lang="en-US" sz="3800" b="1" dirty="0"/>
          </a:p>
        </p:txBody>
      </p:sp>
      <p:sp>
        <p:nvSpPr>
          <p:cNvPr id="6" name="Content Placeholder 2">
            <a:extLst>
              <a:ext uri="{FF2B5EF4-FFF2-40B4-BE49-F238E27FC236}">
                <a16:creationId xmlns:a16="http://schemas.microsoft.com/office/drawing/2014/main" id="{76B14A7C-31EE-A3EB-9558-7B8441F7A715}"/>
              </a:ext>
            </a:extLst>
          </p:cNvPr>
          <p:cNvSpPr>
            <a:spLocks noGrp="1"/>
          </p:cNvSpPr>
          <p:nvPr>
            <p:ph idx="1"/>
          </p:nvPr>
        </p:nvSpPr>
        <p:spPr>
          <a:xfrm>
            <a:off x="6535271" y="2187388"/>
            <a:ext cx="4732286" cy="3603811"/>
          </a:xfrm>
        </p:spPr>
        <p:txBody>
          <a:bodyPr/>
          <a:lstStyle/>
          <a:p>
            <a:r>
              <a:rPr lang="en-US" dirty="0"/>
              <a:t>Enhanced guest experience</a:t>
            </a:r>
          </a:p>
          <a:p>
            <a:r>
              <a:rPr lang="en-US" dirty="0"/>
              <a:t>Improved operational efficiency</a:t>
            </a:r>
          </a:p>
          <a:p>
            <a:r>
              <a:rPr lang="en-US" dirty="0"/>
              <a:t>Cost Savings</a:t>
            </a:r>
          </a:p>
          <a:p>
            <a:r>
              <a:rPr lang="en-US" dirty="0"/>
              <a:t>Provide flexibility &amp; better performance</a:t>
            </a:r>
          </a:p>
          <a:p>
            <a:r>
              <a:rPr lang="en-US" dirty="0"/>
              <a:t>Enhanced communication</a:t>
            </a:r>
          </a:p>
          <a:p>
            <a:r>
              <a:rPr lang="en-US" dirty="0"/>
              <a:t>Data-driven decision making</a:t>
            </a:r>
          </a:p>
          <a:p>
            <a:endParaRPr lang="en-US" dirty="0"/>
          </a:p>
        </p:txBody>
      </p:sp>
    </p:spTree>
    <p:extLst>
      <p:ext uri="{BB962C8B-B14F-4D97-AF65-F5344CB8AC3E}">
        <p14:creationId xmlns:p14="http://schemas.microsoft.com/office/powerpoint/2010/main" val="27779543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65784-DAA3-5545-576A-1D43F81EABC0}"/>
              </a:ext>
            </a:extLst>
          </p:cNvPr>
          <p:cNvSpPr>
            <a:spLocks noGrp="1"/>
          </p:cNvSpPr>
          <p:nvPr>
            <p:ph type="title"/>
          </p:nvPr>
        </p:nvSpPr>
        <p:spPr/>
        <p:txBody>
          <a:bodyPr/>
          <a:lstStyle/>
          <a:p>
            <a:r>
              <a:rPr lang="en-US" b="1" dirty="0"/>
              <a:t>AIM</a:t>
            </a:r>
          </a:p>
        </p:txBody>
      </p:sp>
      <p:sp>
        <p:nvSpPr>
          <p:cNvPr id="3" name="Content Placeholder 2">
            <a:extLst>
              <a:ext uri="{FF2B5EF4-FFF2-40B4-BE49-F238E27FC236}">
                <a16:creationId xmlns:a16="http://schemas.microsoft.com/office/drawing/2014/main" id="{01F48BCF-8019-5899-4E19-9BDE5CCFA27C}"/>
              </a:ext>
            </a:extLst>
          </p:cNvPr>
          <p:cNvSpPr>
            <a:spLocks noGrp="1"/>
          </p:cNvSpPr>
          <p:nvPr>
            <p:ph idx="1"/>
          </p:nvPr>
        </p:nvSpPr>
        <p:spPr/>
        <p:txBody>
          <a:bodyPr>
            <a:normAutofit/>
          </a:bodyPr>
          <a:lstStyle/>
          <a:p>
            <a:pPr marL="36900" indent="0">
              <a:buNone/>
            </a:pPr>
            <a:r>
              <a:rPr lang="en-US" sz="2200" dirty="0"/>
              <a:t>The aim of implementing an online hotel management system is to revolutionize hospitality operations by leveraging technology to enhance efficiency, guest experiences, and revenue generation. By automating tasks, streamlining processes, and providing personalized services, the system aims to optimize hotel operations, increase guest satisfaction, and maintain competitiveness in the dynamic hospitality industry.</a:t>
            </a:r>
          </a:p>
          <a:p>
            <a:pPr marL="36900" indent="0">
              <a:buNone/>
            </a:pPr>
            <a:r>
              <a:rPr lang="en-US" sz="2200" dirty="0"/>
              <a:t> Additionally, the system aims to provide valuable insights through data analytics, enabling informed decision-making and strategic planning to drive business growth and innovation. Ultimately, the aim is to create a seamless and memorable experience for guests while maximizing profitability and sustainability for the hotel.</a:t>
            </a:r>
          </a:p>
        </p:txBody>
      </p:sp>
    </p:spTree>
    <p:extLst>
      <p:ext uri="{BB962C8B-B14F-4D97-AF65-F5344CB8AC3E}">
        <p14:creationId xmlns:p14="http://schemas.microsoft.com/office/powerpoint/2010/main" val="38256582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08BF8-4922-446D-A854-13D976BFDD31}"/>
              </a:ext>
            </a:extLst>
          </p:cNvPr>
          <p:cNvSpPr>
            <a:spLocks noGrp="1"/>
          </p:cNvSpPr>
          <p:nvPr>
            <p:ph type="title"/>
          </p:nvPr>
        </p:nvSpPr>
        <p:spPr/>
        <p:txBody>
          <a:bodyPr/>
          <a:lstStyle/>
          <a:p>
            <a:r>
              <a:rPr lang="en-US" b="1" dirty="0"/>
              <a:t>OBJECTIVE</a:t>
            </a:r>
          </a:p>
        </p:txBody>
      </p:sp>
      <p:sp>
        <p:nvSpPr>
          <p:cNvPr id="3" name="Content Placeholder 2">
            <a:extLst>
              <a:ext uri="{FF2B5EF4-FFF2-40B4-BE49-F238E27FC236}">
                <a16:creationId xmlns:a16="http://schemas.microsoft.com/office/drawing/2014/main" id="{A7C48E80-E1F2-5378-A9B3-BD03EB8E3470}"/>
              </a:ext>
            </a:extLst>
          </p:cNvPr>
          <p:cNvSpPr>
            <a:spLocks noGrp="1"/>
          </p:cNvSpPr>
          <p:nvPr>
            <p:ph idx="1"/>
          </p:nvPr>
        </p:nvSpPr>
        <p:spPr>
          <a:xfrm>
            <a:off x="913795" y="1992406"/>
            <a:ext cx="10353762" cy="3628465"/>
          </a:xfrm>
        </p:spPr>
        <p:txBody>
          <a:bodyPr>
            <a:normAutofit/>
          </a:bodyPr>
          <a:lstStyle/>
          <a:p>
            <a:pPr marL="36900" indent="0">
              <a:buNone/>
            </a:pPr>
            <a:r>
              <a:rPr lang="en-US" sz="2000" dirty="0"/>
              <a:t>The objective of an online hotel management system revolves around </a:t>
            </a:r>
            <a:r>
              <a:rPr lang="en-US" sz="2000" b="1" dirty="0"/>
              <a:t>enhancing guest experiences, optimizing operational efficiency, and maximizing revenue generation</a:t>
            </a:r>
            <a:r>
              <a:rPr lang="en-US" sz="2000" dirty="0"/>
              <a:t>.</a:t>
            </a:r>
          </a:p>
          <a:p>
            <a:pPr marL="36900" indent="0">
              <a:buNone/>
            </a:pPr>
            <a:r>
              <a:rPr lang="en-US" sz="2000" dirty="0"/>
              <a:t>Firstly, it aims to streamline reservation processes, offering guests a seamless platform to book rooms effortlessly while ensuring real-time updates on room availability. This efficiency extends to </a:t>
            </a:r>
            <a:r>
              <a:rPr lang="en-US" sz="2000" b="1" u="sng" dirty="0"/>
              <a:t>front desk operations, automating check-ins, check-outs, and billing processes to reduce manual errors and enhance staff productivity</a:t>
            </a:r>
            <a:r>
              <a:rPr lang="en-US" sz="2000" dirty="0"/>
              <a:t>. Moreover, the system focuses on delivering personalized guest services, facilitating communication between guests and staff for requests and inquiries.</a:t>
            </a:r>
          </a:p>
          <a:p>
            <a:pPr marL="36900" indent="0">
              <a:buNone/>
            </a:pPr>
            <a:r>
              <a:rPr lang="en-US" sz="2000" dirty="0"/>
              <a:t>Through comprehensive reporting and analytics, the system provides insights into key performance metrics, enabling informed decision-making to drive business growth.</a:t>
            </a:r>
          </a:p>
        </p:txBody>
      </p:sp>
    </p:spTree>
    <p:extLst>
      <p:ext uri="{BB962C8B-B14F-4D97-AF65-F5344CB8AC3E}">
        <p14:creationId xmlns:p14="http://schemas.microsoft.com/office/powerpoint/2010/main" val="15210906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A42280-404F-B660-3CB4-306FC706B36A}"/>
              </a:ext>
            </a:extLst>
          </p:cNvPr>
          <p:cNvSpPr>
            <a:spLocks noGrp="1"/>
          </p:cNvSpPr>
          <p:nvPr>
            <p:ph idx="1"/>
          </p:nvPr>
        </p:nvSpPr>
        <p:spPr>
          <a:xfrm>
            <a:off x="913795" y="1174376"/>
            <a:ext cx="10353762" cy="4616823"/>
          </a:xfrm>
        </p:spPr>
        <p:txBody>
          <a:bodyPr>
            <a:normAutofit/>
          </a:bodyPr>
          <a:lstStyle/>
          <a:p>
            <a:pPr marL="36900" indent="0">
              <a:buNone/>
            </a:pPr>
            <a:r>
              <a:rPr lang="en-US" sz="2000" dirty="0"/>
              <a:t>Additionally, the system incorporates essential features like "Contact Us," "About Us," and "Book Rooms Now" to enrich the guest experience and promote direct bookings. The "Contact Us" feature provides easy access to hotel contact information, while the "About Us" section showcases the hotel's identity, values, and amenities.</a:t>
            </a:r>
          </a:p>
          <a:p>
            <a:pPr marL="36900" indent="0">
              <a:buNone/>
            </a:pPr>
            <a:r>
              <a:rPr lang="en-US" sz="2000" dirty="0"/>
              <a:t>Furthermore, the "Book Rooms Now" functionality enables guests to book rooms directly through the system, offering intuitive interfaces and secure payment options. By integrating these features seamlessly, the online hotel management system aims to foster guest satisfaction, loyalty, and engagement while driving revenue through direct bookings and enhanced operational efficiency.</a:t>
            </a:r>
          </a:p>
          <a:p>
            <a:pPr marL="36900" indent="0">
              <a:buNone/>
            </a:pPr>
            <a:r>
              <a:rPr lang="en-US" sz="2000" dirty="0"/>
              <a:t>These objectives and features collectively contribute to the success of an online hotel management system by improving guest satisfaction, increasing operational efficiency, and driving revenue growth.</a:t>
            </a:r>
          </a:p>
        </p:txBody>
      </p:sp>
    </p:spTree>
    <p:extLst>
      <p:ext uri="{BB962C8B-B14F-4D97-AF65-F5344CB8AC3E}">
        <p14:creationId xmlns:p14="http://schemas.microsoft.com/office/powerpoint/2010/main" val="247374153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402A-2F12-D052-7ECD-38B8120443AC}"/>
              </a:ext>
            </a:extLst>
          </p:cNvPr>
          <p:cNvSpPr>
            <a:spLocks noGrp="1"/>
          </p:cNvSpPr>
          <p:nvPr>
            <p:ph type="title"/>
          </p:nvPr>
        </p:nvSpPr>
        <p:spPr/>
        <p:txBody>
          <a:bodyPr/>
          <a:lstStyle/>
          <a:p>
            <a:r>
              <a:rPr lang="en-US" b="1" dirty="0"/>
              <a:t>SYSTEM COMPONENTS</a:t>
            </a:r>
          </a:p>
        </p:txBody>
      </p:sp>
      <p:sp>
        <p:nvSpPr>
          <p:cNvPr id="3" name="Content Placeholder 2">
            <a:extLst>
              <a:ext uri="{FF2B5EF4-FFF2-40B4-BE49-F238E27FC236}">
                <a16:creationId xmlns:a16="http://schemas.microsoft.com/office/drawing/2014/main" id="{0FE9E3D7-90AF-0C8F-3108-B9C890EFD3BB}"/>
              </a:ext>
            </a:extLst>
          </p:cNvPr>
          <p:cNvSpPr>
            <a:spLocks noGrp="1"/>
          </p:cNvSpPr>
          <p:nvPr>
            <p:ph idx="1"/>
          </p:nvPr>
        </p:nvSpPr>
        <p:spPr/>
        <p:txBody>
          <a:bodyPr>
            <a:normAutofit/>
          </a:bodyPr>
          <a:lstStyle/>
          <a:p>
            <a:pPr>
              <a:buFont typeface="Wingdings" panose="05000000000000000000" pitchFamily="2" charset="2"/>
              <a:buChar char="Ø"/>
            </a:pPr>
            <a:r>
              <a:rPr lang="en-US" sz="2000" b="1" dirty="0"/>
              <a:t>User Interface (UI)</a:t>
            </a:r>
          </a:p>
          <a:p>
            <a:pPr>
              <a:buFont typeface="Wingdings" panose="05000000000000000000" pitchFamily="2" charset="2"/>
              <a:buChar char="Ø"/>
            </a:pPr>
            <a:r>
              <a:rPr lang="en-US" sz="2000" b="1" dirty="0"/>
              <a:t>Application Logic</a:t>
            </a:r>
          </a:p>
          <a:p>
            <a:pPr>
              <a:buFont typeface="Wingdings" panose="05000000000000000000" pitchFamily="2" charset="2"/>
              <a:buChar char="Ø"/>
            </a:pPr>
            <a:r>
              <a:rPr lang="en-US" sz="2000" b="1" dirty="0"/>
              <a:t>Database</a:t>
            </a:r>
          </a:p>
          <a:p>
            <a:pPr>
              <a:buFont typeface="Wingdings" panose="05000000000000000000" pitchFamily="2" charset="2"/>
              <a:buChar char="Ø"/>
            </a:pPr>
            <a:r>
              <a:rPr lang="en-US" sz="2000" b="1" dirty="0"/>
              <a:t>Integration Interfaces</a:t>
            </a:r>
          </a:p>
          <a:p>
            <a:pPr>
              <a:buFont typeface="Wingdings" panose="05000000000000000000" pitchFamily="2" charset="2"/>
              <a:buChar char="Ø"/>
            </a:pPr>
            <a:r>
              <a:rPr lang="en-US" sz="2000" b="1" dirty="0"/>
              <a:t>Security Mechanisms</a:t>
            </a:r>
          </a:p>
          <a:p>
            <a:pPr>
              <a:buFont typeface="Wingdings" panose="05000000000000000000" pitchFamily="2" charset="2"/>
              <a:buChar char="Ø"/>
            </a:pPr>
            <a:r>
              <a:rPr lang="en-US" sz="2000" b="1" dirty="0"/>
              <a:t>Analytics and Reporting Tools</a:t>
            </a:r>
          </a:p>
          <a:p>
            <a:pPr>
              <a:buFont typeface="Wingdings" panose="05000000000000000000" pitchFamily="2" charset="2"/>
              <a:buChar char="Ø"/>
            </a:pPr>
            <a:r>
              <a:rPr lang="en-US" sz="2000" b="1" dirty="0"/>
              <a:t>Mobile Application</a:t>
            </a:r>
          </a:p>
        </p:txBody>
      </p:sp>
    </p:spTree>
    <p:extLst>
      <p:ext uri="{BB962C8B-B14F-4D97-AF65-F5344CB8AC3E}">
        <p14:creationId xmlns:p14="http://schemas.microsoft.com/office/powerpoint/2010/main" val="3197345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30E75-8C56-B1F6-0DA2-C93740674A71}"/>
              </a:ext>
            </a:extLst>
          </p:cNvPr>
          <p:cNvSpPr>
            <a:spLocks noGrp="1"/>
          </p:cNvSpPr>
          <p:nvPr>
            <p:ph type="title"/>
          </p:nvPr>
        </p:nvSpPr>
        <p:spPr/>
        <p:txBody>
          <a:bodyPr/>
          <a:lstStyle/>
          <a:p>
            <a:r>
              <a:rPr lang="en-US" b="1" dirty="0"/>
              <a:t>DESIGN CONSTRAINTS</a:t>
            </a:r>
          </a:p>
        </p:txBody>
      </p:sp>
      <p:sp>
        <p:nvSpPr>
          <p:cNvPr id="3" name="Content Placeholder 2">
            <a:extLst>
              <a:ext uri="{FF2B5EF4-FFF2-40B4-BE49-F238E27FC236}">
                <a16:creationId xmlns:a16="http://schemas.microsoft.com/office/drawing/2014/main" id="{C8C1D582-B46D-6A39-9D2A-0E377602DCDA}"/>
              </a:ext>
            </a:extLst>
          </p:cNvPr>
          <p:cNvSpPr>
            <a:spLocks noGrp="1"/>
          </p:cNvSpPr>
          <p:nvPr>
            <p:ph sz="half" idx="1"/>
          </p:nvPr>
        </p:nvSpPr>
        <p:spPr/>
        <p:txBody>
          <a:bodyPr/>
          <a:lstStyle/>
          <a:p>
            <a:pPr marL="36900" indent="0">
              <a:buNone/>
            </a:pPr>
            <a:r>
              <a:rPr lang="en-US" b="1" dirty="0"/>
              <a:t>SOFTWARE CONSTRAINTS</a:t>
            </a:r>
          </a:p>
          <a:p>
            <a:pPr>
              <a:buClr>
                <a:schemeClr val="accent1">
                  <a:lumMod val="60000"/>
                  <a:lumOff val="40000"/>
                </a:schemeClr>
              </a:buClr>
            </a:pPr>
            <a:r>
              <a:rPr lang="en-US" sz="2200" b="1" dirty="0">
                <a:effectLst/>
              </a:rPr>
              <a:t>Operating System: </a:t>
            </a:r>
            <a:r>
              <a:rPr lang="en-US" sz="2000" dirty="0">
                <a:effectLst/>
              </a:rPr>
              <a:t>Windows 7 or more</a:t>
            </a:r>
          </a:p>
          <a:p>
            <a:pPr>
              <a:buClr>
                <a:schemeClr val="accent1">
                  <a:lumMod val="60000"/>
                  <a:lumOff val="40000"/>
                </a:schemeClr>
              </a:buClr>
            </a:pPr>
            <a:r>
              <a:rPr lang="en-US" sz="2200" b="1" dirty="0">
                <a:effectLst/>
              </a:rPr>
              <a:t>Editor:</a:t>
            </a:r>
            <a:r>
              <a:rPr lang="en-US" sz="2000" b="1" dirty="0">
                <a:effectLst/>
              </a:rPr>
              <a:t> </a:t>
            </a:r>
            <a:r>
              <a:rPr lang="en-US" sz="2000" dirty="0">
                <a:effectLst/>
              </a:rPr>
              <a:t>Visual Studio Code</a:t>
            </a:r>
          </a:p>
          <a:p>
            <a:pPr>
              <a:buClr>
                <a:schemeClr val="accent1">
                  <a:lumMod val="60000"/>
                  <a:lumOff val="40000"/>
                </a:schemeClr>
              </a:buClr>
            </a:pPr>
            <a:r>
              <a:rPr lang="en-US" sz="2200" b="1" dirty="0">
                <a:effectLst/>
              </a:rPr>
              <a:t>Front End: </a:t>
            </a:r>
            <a:r>
              <a:rPr lang="en-US" sz="2000" dirty="0">
                <a:effectLst/>
              </a:rPr>
              <a:t>HTML, CSS, Bootstrap 4.6</a:t>
            </a:r>
          </a:p>
          <a:p>
            <a:pPr>
              <a:buClr>
                <a:schemeClr val="accent1">
                  <a:lumMod val="60000"/>
                  <a:lumOff val="40000"/>
                </a:schemeClr>
              </a:buClr>
            </a:pPr>
            <a:r>
              <a:rPr lang="en-US" sz="2200" b="1" dirty="0">
                <a:effectLst/>
              </a:rPr>
              <a:t>Back End: </a:t>
            </a:r>
            <a:r>
              <a:rPr lang="en-US" sz="2000" dirty="0">
                <a:effectLst/>
              </a:rPr>
              <a:t>Django, DB Browser</a:t>
            </a:r>
            <a:endParaRPr lang="en-US" sz="2000" b="1" dirty="0">
              <a:effectLst/>
            </a:endParaRPr>
          </a:p>
        </p:txBody>
      </p:sp>
      <p:sp>
        <p:nvSpPr>
          <p:cNvPr id="4" name="Content Placeholder 3">
            <a:extLst>
              <a:ext uri="{FF2B5EF4-FFF2-40B4-BE49-F238E27FC236}">
                <a16:creationId xmlns:a16="http://schemas.microsoft.com/office/drawing/2014/main" id="{6CE3C34B-BC02-3D1C-E941-91D12C6515D8}"/>
              </a:ext>
            </a:extLst>
          </p:cNvPr>
          <p:cNvSpPr>
            <a:spLocks noGrp="1"/>
          </p:cNvSpPr>
          <p:nvPr>
            <p:ph sz="half" idx="2"/>
          </p:nvPr>
        </p:nvSpPr>
        <p:spPr/>
        <p:txBody>
          <a:bodyPr/>
          <a:lstStyle/>
          <a:p>
            <a:pPr marL="36900" indent="0">
              <a:buNone/>
            </a:pPr>
            <a:r>
              <a:rPr lang="en-US" b="1" dirty="0"/>
              <a:t>HARDWARE CONSTRAINTS</a:t>
            </a:r>
          </a:p>
          <a:p>
            <a:r>
              <a:rPr lang="en-US" sz="2200" b="1" dirty="0"/>
              <a:t>RAM: </a:t>
            </a:r>
            <a:r>
              <a:rPr lang="en-US" sz="2000" b="1" dirty="0"/>
              <a:t>2 GB or more</a:t>
            </a:r>
          </a:p>
          <a:p>
            <a:r>
              <a:rPr lang="en-US" sz="2200" b="1" dirty="0"/>
              <a:t>Hard Disk: </a:t>
            </a:r>
            <a:r>
              <a:rPr lang="en-US" sz="2000" b="1" dirty="0"/>
              <a:t>2 GB</a:t>
            </a:r>
          </a:p>
        </p:txBody>
      </p:sp>
    </p:spTree>
    <p:extLst>
      <p:ext uri="{BB962C8B-B14F-4D97-AF65-F5344CB8AC3E}">
        <p14:creationId xmlns:p14="http://schemas.microsoft.com/office/powerpoint/2010/main" val="8143220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7558-6685-F312-248F-0AFAAC4ADB28}"/>
              </a:ext>
            </a:extLst>
          </p:cNvPr>
          <p:cNvSpPr>
            <a:spLocks noGrp="1"/>
          </p:cNvSpPr>
          <p:nvPr>
            <p:ph type="title"/>
          </p:nvPr>
        </p:nvSpPr>
        <p:spPr/>
        <p:txBody>
          <a:bodyPr/>
          <a:lstStyle/>
          <a:p>
            <a:r>
              <a:rPr lang="en-US" b="1" dirty="0"/>
              <a:t>ARCHITECTURE</a:t>
            </a:r>
          </a:p>
        </p:txBody>
      </p:sp>
      <p:sp>
        <p:nvSpPr>
          <p:cNvPr id="3" name="Content Placeholder 2">
            <a:extLst>
              <a:ext uri="{FF2B5EF4-FFF2-40B4-BE49-F238E27FC236}">
                <a16:creationId xmlns:a16="http://schemas.microsoft.com/office/drawing/2014/main" id="{914E9A06-6A1A-9734-8326-91A7BDFA4890}"/>
              </a:ext>
            </a:extLst>
          </p:cNvPr>
          <p:cNvSpPr>
            <a:spLocks noGrp="1"/>
          </p:cNvSpPr>
          <p:nvPr>
            <p:ph idx="1"/>
          </p:nvPr>
        </p:nvSpPr>
        <p:spPr/>
        <p:txBody>
          <a:bodyPr>
            <a:normAutofit fontScale="92500" lnSpcReduction="10000"/>
          </a:bodyPr>
          <a:lstStyle/>
          <a:p>
            <a:pPr marL="36900" indent="0">
              <a:buNone/>
            </a:pPr>
            <a:r>
              <a:rPr lang="en-US" sz="2200" dirty="0"/>
              <a:t>The architecture of an online hotel management system typically consists of several layers, each serving a specific purpose in facilitating the system's functionalities. </a:t>
            </a:r>
          </a:p>
          <a:p>
            <a:r>
              <a:rPr lang="en-US" sz="2200" b="1" dirty="0"/>
              <a:t>Presentation Layer: </a:t>
            </a:r>
            <a:r>
              <a:rPr lang="en-US" sz="2000" dirty="0"/>
              <a:t>Interfaces for guests to book rooms and for staff to manage operations, ensuring user-friendly interactions.</a:t>
            </a:r>
          </a:p>
          <a:p>
            <a:r>
              <a:rPr lang="en-US" sz="2200" b="1" dirty="0"/>
              <a:t>Application Layer: </a:t>
            </a:r>
            <a:r>
              <a:rPr lang="en-US" sz="2000" dirty="0"/>
              <a:t>Centralizes core functionalities like reservation management, billing, and reporting, orchestrating system operations.</a:t>
            </a:r>
          </a:p>
          <a:p>
            <a:r>
              <a:rPr lang="en-US" sz="2200" b="1" dirty="0"/>
              <a:t>Integration Layer: </a:t>
            </a:r>
            <a:r>
              <a:rPr lang="en-US" sz="2000" dirty="0"/>
              <a:t>Facilitates seamless communication with external systems such as payment gateways and property management systems, ensuring interoperability.</a:t>
            </a:r>
          </a:p>
          <a:p>
            <a:r>
              <a:rPr lang="en-US" sz="2200" b="1" dirty="0"/>
              <a:t>Data Layer: </a:t>
            </a:r>
            <a:r>
              <a:rPr lang="en-US" sz="2000" dirty="0"/>
              <a:t>Stores and manages system data, including guest information, reservations, and operational records, ensuring data integrity and accessibility.</a:t>
            </a:r>
          </a:p>
        </p:txBody>
      </p:sp>
    </p:spTree>
    <p:extLst>
      <p:ext uri="{BB962C8B-B14F-4D97-AF65-F5344CB8AC3E}">
        <p14:creationId xmlns:p14="http://schemas.microsoft.com/office/powerpoint/2010/main" val="31950693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715EB-BB2B-00FD-E65E-3AD96F7CD8EF}"/>
              </a:ext>
            </a:extLst>
          </p:cNvPr>
          <p:cNvSpPr>
            <a:spLocks noGrp="1"/>
          </p:cNvSpPr>
          <p:nvPr>
            <p:ph type="title"/>
          </p:nvPr>
        </p:nvSpPr>
        <p:spPr/>
        <p:txBody>
          <a:bodyPr/>
          <a:lstStyle/>
          <a:p>
            <a:r>
              <a:rPr lang="en-US" b="1" dirty="0"/>
              <a:t>USER INTERFACE</a:t>
            </a:r>
          </a:p>
        </p:txBody>
      </p:sp>
      <p:sp>
        <p:nvSpPr>
          <p:cNvPr id="3" name="Content Placeholder 2">
            <a:extLst>
              <a:ext uri="{FF2B5EF4-FFF2-40B4-BE49-F238E27FC236}">
                <a16:creationId xmlns:a16="http://schemas.microsoft.com/office/drawing/2014/main" id="{23B5C7DF-ECF8-B31F-FB4B-DA78437F4DB0}"/>
              </a:ext>
            </a:extLst>
          </p:cNvPr>
          <p:cNvSpPr>
            <a:spLocks noGrp="1"/>
          </p:cNvSpPr>
          <p:nvPr>
            <p:ph idx="1"/>
          </p:nvPr>
        </p:nvSpPr>
        <p:spPr/>
        <p:txBody>
          <a:bodyPr>
            <a:normAutofit fontScale="70000" lnSpcReduction="20000"/>
          </a:bodyPr>
          <a:lstStyle/>
          <a:p>
            <a:r>
              <a:rPr lang="en-US" sz="2600" b="1" dirty="0"/>
              <a:t>Intuitive Design</a:t>
            </a:r>
          </a:p>
          <a:p>
            <a:r>
              <a:rPr lang="en-US" sz="2600" b="1" dirty="0"/>
              <a:t>Booking Interface</a:t>
            </a:r>
            <a:endParaRPr lang="en-US" dirty="0"/>
          </a:p>
          <a:p>
            <a:r>
              <a:rPr lang="en-US" sz="2600" b="1" dirty="0"/>
              <a:t>Dashboard for Staff</a:t>
            </a:r>
          </a:p>
          <a:p>
            <a:r>
              <a:rPr lang="en-US" sz="2600" b="1" dirty="0"/>
              <a:t>Guest Services Portal</a:t>
            </a:r>
          </a:p>
          <a:p>
            <a:r>
              <a:rPr lang="en-US" sz="2600" b="1" dirty="0"/>
              <a:t>Mobile Responsiveness</a:t>
            </a:r>
          </a:p>
          <a:p>
            <a:r>
              <a:rPr lang="en-US" sz="2600" b="1" dirty="0"/>
              <a:t>Visual Feedback and Confirmation</a:t>
            </a:r>
          </a:p>
          <a:p>
            <a:r>
              <a:rPr lang="en-US" sz="2600" b="1" dirty="0"/>
              <a:t>Personalization</a:t>
            </a:r>
          </a:p>
          <a:p>
            <a:r>
              <a:rPr lang="en-US" sz="2600" b="1" dirty="0"/>
              <a:t>Accessibility Features</a:t>
            </a:r>
          </a:p>
          <a:p>
            <a:r>
              <a:rPr lang="en-US" sz="2600" b="1" dirty="0"/>
              <a:t>Security Measures</a:t>
            </a:r>
          </a:p>
          <a:p>
            <a:endParaRPr lang="en-US" dirty="0"/>
          </a:p>
        </p:txBody>
      </p:sp>
    </p:spTree>
    <p:extLst>
      <p:ext uri="{BB962C8B-B14F-4D97-AF65-F5344CB8AC3E}">
        <p14:creationId xmlns:p14="http://schemas.microsoft.com/office/powerpoint/2010/main" val="27738360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234DB-DC70-6239-0598-1E371AC92A89}"/>
              </a:ext>
            </a:extLst>
          </p:cNvPr>
          <p:cNvSpPr>
            <a:spLocks noGrp="1"/>
          </p:cNvSpPr>
          <p:nvPr>
            <p:ph type="title"/>
          </p:nvPr>
        </p:nvSpPr>
        <p:spPr/>
        <p:txBody>
          <a:bodyPr/>
          <a:lstStyle/>
          <a:p>
            <a:r>
              <a:rPr lang="en-US" b="1" dirty="0"/>
              <a:t>METHODOLOGY</a:t>
            </a:r>
          </a:p>
        </p:txBody>
      </p:sp>
      <p:sp>
        <p:nvSpPr>
          <p:cNvPr id="3" name="Content Placeholder 2">
            <a:extLst>
              <a:ext uri="{FF2B5EF4-FFF2-40B4-BE49-F238E27FC236}">
                <a16:creationId xmlns:a16="http://schemas.microsoft.com/office/drawing/2014/main" id="{6F58B4D9-FA49-D3CE-13C4-4B65D8ACAC2C}"/>
              </a:ext>
            </a:extLst>
          </p:cNvPr>
          <p:cNvSpPr>
            <a:spLocks noGrp="1"/>
          </p:cNvSpPr>
          <p:nvPr>
            <p:ph idx="1"/>
          </p:nvPr>
        </p:nvSpPr>
        <p:spPr/>
        <p:txBody>
          <a:bodyPr>
            <a:normAutofit fontScale="77500" lnSpcReduction="20000"/>
          </a:bodyPr>
          <a:lstStyle/>
          <a:p>
            <a:pPr marL="36900" indent="0">
              <a:buNone/>
            </a:pPr>
            <a:r>
              <a:rPr lang="en-US" dirty="0"/>
              <a:t>The methodology for developing an online hotel management system typically follows a structured approach to ensure efficient project management and successful implementation.</a:t>
            </a:r>
          </a:p>
          <a:p>
            <a:r>
              <a:rPr lang="en-US" sz="2600" b="1" dirty="0"/>
              <a:t>Requirement Analysis: </a:t>
            </a:r>
            <a:r>
              <a:rPr lang="en-US" sz="2400" dirty="0"/>
              <a:t>Gather and document system requirements. Identify key features, user roles, and system constraints to establish a clear understanding of project scope and objectives.</a:t>
            </a:r>
          </a:p>
          <a:p>
            <a:r>
              <a:rPr lang="en-US" sz="2600" b="1" dirty="0"/>
              <a:t>System Design: </a:t>
            </a:r>
            <a:r>
              <a:rPr lang="en-US" sz="2400" dirty="0"/>
              <a:t>Create system architecture and UI design. Define the user interface layout, navigation flow, and interaction design to optimize usability and user experience.</a:t>
            </a:r>
          </a:p>
          <a:p>
            <a:r>
              <a:rPr lang="en-US" sz="2600" b="1" dirty="0"/>
              <a:t>Development: </a:t>
            </a:r>
            <a:r>
              <a:rPr lang="en-US" sz="2400" dirty="0"/>
              <a:t>Implement system functionalities. Follow best practices in software development, coding standards, and version control to ensure code quality, maintainability, and scalability.</a:t>
            </a:r>
          </a:p>
          <a:p>
            <a:r>
              <a:rPr lang="en-US" sz="2600" b="1" dirty="0"/>
              <a:t>Testing and QA:</a:t>
            </a:r>
            <a:r>
              <a:rPr lang="en-US" sz="2800" dirty="0"/>
              <a:t> </a:t>
            </a:r>
            <a:r>
              <a:rPr lang="en-US" sz="2500" dirty="0"/>
              <a:t>Execute testing to ensure functionality, performance, and security , and usability. Conduct various testing activities, including functional testing, regression testing, performance testing, and user acceptance testing </a:t>
            </a:r>
          </a:p>
        </p:txBody>
      </p:sp>
    </p:spTree>
    <p:extLst>
      <p:ext uri="{BB962C8B-B14F-4D97-AF65-F5344CB8AC3E}">
        <p14:creationId xmlns:p14="http://schemas.microsoft.com/office/powerpoint/2010/main" val="11131184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44A64F-DB54-DFBA-D741-D89BF5A34277}"/>
              </a:ext>
            </a:extLst>
          </p:cNvPr>
          <p:cNvSpPr>
            <a:spLocks noGrp="1"/>
          </p:cNvSpPr>
          <p:nvPr>
            <p:ph idx="1"/>
          </p:nvPr>
        </p:nvSpPr>
        <p:spPr>
          <a:xfrm>
            <a:off x="913795" y="1192306"/>
            <a:ext cx="10353762" cy="4598893"/>
          </a:xfrm>
        </p:spPr>
        <p:txBody>
          <a:bodyPr>
            <a:normAutofit/>
          </a:bodyPr>
          <a:lstStyle/>
          <a:p>
            <a:r>
              <a:rPr lang="en-US" sz="2000" b="1" dirty="0"/>
              <a:t>Deployment and Integration: </a:t>
            </a:r>
            <a:r>
              <a:rPr lang="en-US" sz="1900" dirty="0"/>
              <a:t>Deploy the system and integrate with other software. Prepare the system for deployment by configuring servers, databases, and third-party integrations.</a:t>
            </a:r>
          </a:p>
          <a:p>
            <a:r>
              <a:rPr lang="en-US" sz="2000" b="1" dirty="0"/>
              <a:t>Training and User Adoption: </a:t>
            </a:r>
            <a:r>
              <a:rPr lang="en-US" sz="1900" dirty="0"/>
              <a:t>Provide training  and documentation to educate users (hotel staff, administrators, and guests) on how to use the system effectively</a:t>
            </a:r>
          </a:p>
          <a:p>
            <a:r>
              <a:rPr lang="en-US" sz="2000" b="1" dirty="0"/>
              <a:t>Maintenance and Support: </a:t>
            </a:r>
            <a:r>
              <a:rPr lang="en-US" sz="1900" dirty="0"/>
              <a:t>Establish procedures for ongoing maintenance, monitoring, and support to address system updates, bug fixes, and user inquiries. Implement mechanisms for continuous improvement based on emerging technologies, and industry best practices</a:t>
            </a:r>
          </a:p>
          <a:p>
            <a:pPr marL="36900" indent="0">
              <a:buNone/>
            </a:pPr>
            <a:r>
              <a:rPr lang="en-US" sz="1800" dirty="0"/>
              <a:t>By following this methodology, the development team can ensure the successful delivery of the online hotel management system, meeting stakeholders' expectations and contributing to the efficiency and profitability of hotel operations.</a:t>
            </a:r>
          </a:p>
          <a:p>
            <a:endParaRPr lang="en-US" sz="2000" dirty="0"/>
          </a:p>
        </p:txBody>
      </p:sp>
    </p:spTree>
    <p:extLst>
      <p:ext uri="{BB962C8B-B14F-4D97-AF65-F5344CB8AC3E}">
        <p14:creationId xmlns:p14="http://schemas.microsoft.com/office/powerpoint/2010/main" val="135624191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92A568B-CE35-F78D-2BD9-8D4B159321F9}"/>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1712259" y="1488140"/>
            <a:ext cx="8462682" cy="4453209"/>
          </a:xfrm>
        </p:spPr>
      </p:pic>
      <p:sp>
        <p:nvSpPr>
          <p:cNvPr id="7" name="TextBox 6">
            <a:extLst>
              <a:ext uri="{FF2B5EF4-FFF2-40B4-BE49-F238E27FC236}">
                <a16:creationId xmlns:a16="http://schemas.microsoft.com/office/drawing/2014/main" id="{2CDBFEAF-4260-C664-B00E-AD1EA6878D50}"/>
              </a:ext>
            </a:extLst>
          </p:cNvPr>
          <p:cNvSpPr txBox="1"/>
          <p:nvPr/>
        </p:nvSpPr>
        <p:spPr>
          <a:xfrm>
            <a:off x="3397624" y="618565"/>
            <a:ext cx="5244352" cy="523220"/>
          </a:xfrm>
          <a:prstGeom prst="rect">
            <a:avLst/>
          </a:prstGeom>
          <a:noFill/>
        </p:spPr>
        <p:txBody>
          <a:bodyPr wrap="square" rtlCol="0">
            <a:spAutoFit/>
          </a:bodyPr>
          <a:lstStyle/>
          <a:p>
            <a:r>
              <a:rPr lang="en-US" sz="2800" b="1" dirty="0"/>
              <a:t>Software Development Lifecycle</a:t>
            </a:r>
          </a:p>
        </p:txBody>
      </p:sp>
    </p:spTree>
    <p:extLst>
      <p:ext uri="{BB962C8B-B14F-4D97-AF65-F5344CB8AC3E}">
        <p14:creationId xmlns:p14="http://schemas.microsoft.com/office/powerpoint/2010/main" val="9434519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E610-D827-E44E-F3C8-602D58EBDA5D}"/>
              </a:ext>
            </a:extLst>
          </p:cNvPr>
          <p:cNvSpPr>
            <a:spLocks noGrp="1"/>
          </p:cNvSpPr>
          <p:nvPr>
            <p:ph type="title"/>
          </p:nvPr>
        </p:nvSpPr>
        <p:spPr/>
        <p:txBody>
          <a:bodyPr/>
          <a:lstStyle/>
          <a:p>
            <a:r>
              <a:rPr lang="en-US" b="1" dirty="0"/>
              <a:t>RESULTS</a:t>
            </a:r>
          </a:p>
        </p:txBody>
      </p:sp>
      <p:sp>
        <p:nvSpPr>
          <p:cNvPr id="3" name="Content Placeholder 2">
            <a:extLst>
              <a:ext uri="{FF2B5EF4-FFF2-40B4-BE49-F238E27FC236}">
                <a16:creationId xmlns:a16="http://schemas.microsoft.com/office/drawing/2014/main" id="{D567082F-32B3-1E79-E503-CFE782297525}"/>
              </a:ext>
            </a:extLst>
          </p:cNvPr>
          <p:cNvSpPr>
            <a:spLocks noGrp="1"/>
          </p:cNvSpPr>
          <p:nvPr>
            <p:ph idx="1"/>
          </p:nvPr>
        </p:nvSpPr>
        <p:spPr/>
        <p:txBody>
          <a:bodyPr>
            <a:normAutofit fontScale="92500" lnSpcReduction="10000"/>
          </a:bodyPr>
          <a:lstStyle/>
          <a:p>
            <a:pPr marL="494100" indent="-457200">
              <a:buFont typeface="+mj-lt"/>
              <a:buAutoNum type="arabicPeriod"/>
            </a:pPr>
            <a:r>
              <a:rPr lang="en-US" b="1" dirty="0"/>
              <a:t>Operational Efficiency: </a:t>
            </a:r>
            <a:r>
              <a:rPr lang="en-US" sz="2200" dirty="0"/>
              <a:t>Streamlined processes, reduced errors, and increased staff productivity.</a:t>
            </a:r>
          </a:p>
          <a:p>
            <a:pPr marL="494100" indent="-457200">
              <a:buFont typeface="+mj-lt"/>
              <a:buAutoNum type="arabicPeriod"/>
            </a:pPr>
            <a:r>
              <a:rPr lang="en-US" b="1" dirty="0"/>
              <a:t>Enhanced Guest Experience:</a:t>
            </a:r>
            <a:r>
              <a:rPr lang="en-US" dirty="0"/>
              <a:t> </a:t>
            </a:r>
            <a:r>
              <a:rPr lang="en-US" sz="2200" dirty="0"/>
              <a:t>Convenient booking, personalized services, and improved guest-staff interactions.</a:t>
            </a:r>
          </a:p>
          <a:p>
            <a:pPr marL="494100" indent="-457200">
              <a:buFont typeface="+mj-lt"/>
              <a:buAutoNum type="arabicPeriod"/>
            </a:pPr>
            <a:r>
              <a:rPr lang="en-US" sz="2200" b="1" dirty="0"/>
              <a:t>Increased Revenue:</a:t>
            </a:r>
            <a:r>
              <a:rPr lang="en-US" sz="2200" dirty="0"/>
              <a:t> Optimized pricing, upselling opportunities, and cost savings.</a:t>
            </a:r>
          </a:p>
          <a:p>
            <a:pPr marL="494100" indent="-457200">
              <a:buFont typeface="+mj-lt"/>
              <a:buAutoNum type="arabicPeriod"/>
            </a:pPr>
            <a:r>
              <a:rPr lang="en-US" sz="2200" b="1" dirty="0"/>
              <a:t>Data-Driven Decision Making:</a:t>
            </a:r>
            <a:r>
              <a:rPr lang="en-US" sz="2200" dirty="0"/>
              <a:t> Informed decisions based on analytics and insights.</a:t>
            </a:r>
          </a:p>
          <a:p>
            <a:pPr marL="494100" indent="-457200">
              <a:buFont typeface="+mj-lt"/>
              <a:buAutoNum type="arabicPeriod"/>
            </a:pPr>
            <a:r>
              <a:rPr lang="en-US" sz="2200" b="1" dirty="0"/>
              <a:t>Competitive Advantage: </a:t>
            </a:r>
            <a:r>
              <a:rPr lang="en-US" sz="2200" dirty="0"/>
              <a:t>Reputation enhancement and differentiation in the market.</a:t>
            </a:r>
          </a:p>
          <a:p>
            <a:pPr marL="494100" indent="-457200">
              <a:buFont typeface="+mj-lt"/>
              <a:buAutoNum type="arabicPeriod"/>
            </a:pPr>
            <a:r>
              <a:rPr lang="en-US" sz="2200" b="1" dirty="0"/>
              <a:t>Scalability and Adaptability: </a:t>
            </a:r>
            <a:r>
              <a:rPr lang="en-US" sz="2200" dirty="0"/>
              <a:t>Flexibility to meet evolving industry needs and trends.</a:t>
            </a:r>
          </a:p>
          <a:p>
            <a:pPr marL="36900" indent="0">
              <a:buNone/>
            </a:pPr>
            <a:r>
              <a:rPr lang="en-US" sz="2200" dirty="0"/>
              <a:t>Implementing an online hotel management system can lead to a wide range of positive outcomes, ultimately contributing to the success and growth of the hotel business.</a:t>
            </a:r>
          </a:p>
        </p:txBody>
      </p:sp>
    </p:spTree>
    <p:extLst>
      <p:ext uri="{BB962C8B-B14F-4D97-AF65-F5344CB8AC3E}">
        <p14:creationId xmlns:p14="http://schemas.microsoft.com/office/powerpoint/2010/main" val="32782491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209B9-2E9E-031D-152D-09F60EB85F4A}"/>
              </a:ext>
            </a:extLst>
          </p:cNvPr>
          <p:cNvSpPr>
            <a:spLocks noGrp="1"/>
          </p:cNvSpPr>
          <p:nvPr>
            <p:ph type="title"/>
          </p:nvPr>
        </p:nvSpPr>
        <p:spPr/>
        <p:txBody>
          <a:bodyPr/>
          <a:lstStyle/>
          <a:p>
            <a:r>
              <a:rPr lang="en-US" b="1" dirty="0"/>
              <a:t>ER Diagram</a:t>
            </a:r>
          </a:p>
        </p:txBody>
      </p:sp>
      <p:pic>
        <p:nvPicPr>
          <p:cNvPr id="5" name="Content Placeholder 4">
            <a:extLst>
              <a:ext uri="{FF2B5EF4-FFF2-40B4-BE49-F238E27FC236}">
                <a16:creationId xmlns:a16="http://schemas.microsoft.com/office/drawing/2014/main" id="{5650FBDB-E2FF-9ABF-9ED8-874072B9E563}"/>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1539560" y="1941980"/>
            <a:ext cx="8698135" cy="3945582"/>
          </a:xfrm>
        </p:spPr>
      </p:pic>
    </p:spTree>
    <p:extLst>
      <p:ext uri="{BB962C8B-B14F-4D97-AF65-F5344CB8AC3E}">
        <p14:creationId xmlns:p14="http://schemas.microsoft.com/office/powerpoint/2010/main" val="30356060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10A7E-D631-97DB-CD1D-985CEADEF127}"/>
              </a:ext>
            </a:extLst>
          </p:cNvPr>
          <p:cNvSpPr>
            <a:spLocks noGrp="1"/>
          </p:cNvSpPr>
          <p:nvPr>
            <p:ph type="title"/>
          </p:nvPr>
        </p:nvSpPr>
        <p:spPr/>
        <p:txBody>
          <a:bodyPr/>
          <a:lstStyle/>
          <a:p>
            <a:r>
              <a:rPr lang="en-US" b="1" dirty="0"/>
              <a:t>ER Diagram</a:t>
            </a:r>
          </a:p>
        </p:txBody>
      </p:sp>
      <p:pic>
        <p:nvPicPr>
          <p:cNvPr id="5" name="Content Placeholder 4">
            <a:extLst>
              <a:ext uri="{FF2B5EF4-FFF2-40B4-BE49-F238E27FC236}">
                <a16:creationId xmlns:a16="http://schemas.microsoft.com/office/drawing/2014/main" id="{D9370A21-2643-359F-5D54-6F9B0BB5B1BD}"/>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1963271" y="1866900"/>
            <a:ext cx="8059270" cy="3924300"/>
          </a:xfrm>
        </p:spPr>
      </p:pic>
      <p:sp>
        <p:nvSpPr>
          <p:cNvPr id="7" name="Rectangle 6">
            <a:extLst>
              <a:ext uri="{FF2B5EF4-FFF2-40B4-BE49-F238E27FC236}">
                <a16:creationId xmlns:a16="http://schemas.microsoft.com/office/drawing/2014/main" id="{FA09A2BC-D8C5-E324-194D-26EBE707BB26}"/>
              </a:ext>
            </a:extLst>
          </p:cNvPr>
          <p:cNvSpPr/>
          <p:nvPr/>
        </p:nvSpPr>
        <p:spPr>
          <a:xfrm>
            <a:off x="7404847" y="3496235"/>
            <a:ext cx="2268070" cy="20260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044923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6E028-9B79-8EF0-0E76-DF2BCC75A87B}"/>
              </a:ext>
            </a:extLst>
          </p:cNvPr>
          <p:cNvSpPr>
            <a:spLocks noGrp="1"/>
          </p:cNvSpPr>
          <p:nvPr>
            <p:ph type="title"/>
          </p:nvPr>
        </p:nvSpPr>
        <p:spPr/>
        <p:txBody>
          <a:bodyPr/>
          <a:lstStyle/>
          <a:p>
            <a:r>
              <a:rPr lang="en-US" b="1" dirty="0"/>
              <a:t>FUTURE ENHANCEMENT</a:t>
            </a:r>
          </a:p>
        </p:txBody>
      </p:sp>
      <p:sp>
        <p:nvSpPr>
          <p:cNvPr id="3" name="Content Placeholder 2">
            <a:extLst>
              <a:ext uri="{FF2B5EF4-FFF2-40B4-BE49-F238E27FC236}">
                <a16:creationId xmlns:a16="http://schemas.microsoft.com/office/drawing/2014/main" id="{4AD9AEC4-9254-4A50-30C6-2AC5095F90E1}"/>
              </a:ext>
            </a:extLst>
          </p:cNvPr>
          <p:cNvSpPr>
            <a:spLocks noGrp="1"/>
          </p:cNvSpPr>
          <p:nvPr>
            <p:ph idx="1"/>
          </p:nvPr>
        </p:nvSpPr>
        <p:spPr/>
        <p:txBody>
          <a:bodyPr>
            <a:normAutofit/>
          </a:bodyPr>
          <a:lstStyle/>
          <a:p>
            <a:r>
              <a:rPr lang="en-US" sz="2000" b="1" dirty="0"/>
              <a:t>AI Integration: </a:t>
            </a:r>
            <a:r>
              <a:rPr lang="en-US" sz="1900" dirty="0"/>
              <a:t>Integrate AI chatbots to provide instant guest assistance and personalize experiences. Predictive analytics driven by AI algorithms can anticipate guest needs and optimize service delivery.</a:t>
            </a:r>
          </a:p>
          <a:p>
            <a:r>
              <a:rPr lang="en-US" sz="2000" b="1" dirty="0"/>
              <a:t>IoT Integration: </a:t>
            </a:r>
            <a:r>
              <a:rPr lang="en-US" sz="1900" dirty="0"/>
              <a:t>Automate room controls with IoT devices like smart locks and thermostats, enhancing guest comfort. Leverage IoT data for predictive maintenance, reducing downtime and optimizing operational efficiency.</a:t>
            </a:r>
          </a:p>
          <a:p>
            <a:r>
              <a:rPr lang="en-US" sz="2000" b="1" dirty="0"/>
              <a:t>Blockchain Implementation: </a:t>
            </a:r>
            <a:r>
              <a:rPr lang="en-US" sz="1900" dirty="0"/>
              <a:t>Utilize blockchain for secure management of guest data, transactions, and loyalty programs. Implement smart contracts to automate agreements like room bookings and payment settlements, enhancing transparency and trust.</a:t>
            </a:r>
          </a:p>
        </p:txBody>
      </p:sp>
    </p:spTree>
    <p:extLst>
      <p:ext uri="{BB962C8B-B14F-4D97-AF65-F5344CB8AC3E}">
        <p14:creationId xmlns:p14="http://schemas.microsoft.com/office/powerpoint/2010/main" val="31936097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633C8-40A7-5762-2371-5C9DB97B1827}"/>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id="{9BDB4D50-7C9B-E35D-C517-348288B43B9C}"/>
              </a:ext>
            </a:extLst>
          </p:cNvPr>
          <p:cNvSpPr>
            <a:spLocks noGrp="1"/>
          </p:cNvSpPr>
          <p:nvPr>
            <p:ph idx="1"/>
          </p:nvPr>
        </p:nvSpPr>
        <p:spPr/>
        <p:txBody>
          <a:bodyPr>
            <a:normAutofit fontScale="92500" lnSpcReduction="10000"/>
          </a:bodyPr>
          <a:lstStyle/>
          <a:p>
            <a:pPr marL="36900" indent="0">
              <a:buNone/>
            </a:pPr>
            <a:r>
              <a:rPr lang="en-US" dirty="0"/>
              <a:t>The implementation of an online hotel management system offers a myriad of benefits that significantly impact both operational efficiency and guest satisfaction. By streamlining processes, enhancing guest experiences, and maximizing revenue generation opportunities, hotels can achieve tangible improvements in their overall performance and competitiveness. Moreover, the system's data-driven approach empowers hotel managers to make informed decisions, adapt to changing market dynamics, and drive sustainable growth. </a:t>
            </a:r>
          </a:p>
          <a:p>
            <a:pPr marL="36900" indent="0">
              <a:buNone/>
            </a:pPr>
            <a:r>
              <a:rPr lang="en-US" dirty="0"/>
              <a:t>With scalability and adaptability at its core, the online hotel management system ensures continued relevance and effectiveness in meeting the evolving needs of the hospitality industry. Ultimately, investing in such a system not only yields immediate results but also positions hotels for long-term success and excellence in guest service delivery.</a:t>
            </a:r>
          </a:p>
        </p:txBody>
      </p:sp>
    </p:spTree>
    <p:extLst>
      <p:ext uri="{BB962C8B-B14F-4D97-AF65-F5344CB8AC3E}">
        <p14:creationId xmlns:p14="http://schemas.microsoft.com/office/powerpoint/2010/main" val="169327803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506046" y="2330824"/>
            <a:ext cx="4538124" cy="970450"/>
          </a:xfrm>
        </p:spPr>
        <p:txBody>
          <a:bodyPr anchor="b">
            <a:normAutofit/>
          </a:bodyPr>
          <a:lstStyle/>
          <a:p>
            <a:pPr algn="l"/>
            <a:r>
              <a:rPr lang="en-US" sz="4000" b="1" dirty="0"/>
              <a:t>THANK YOU!</a:t>
            </a:r>
          </a:p>
        </p:txBody>
      </p:sp>
    </p:spTree>
    <p:extLst>
      <p:ext uri="{BB962C8B-B14F-4D97-AF65-F5344CB8AC3E}">
        <p14:creationId xmlns:p14="http://schemas.microsoft.com/office/powerpoint/2010/main" val="322023568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3.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4.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{DDD0FC81-7CC6-4653-8609-B149E4CFA7CC}tf55705232_win32</Template>
  <TotalTime>134</TotalTime>
  <Words>1340</Words>
  <Application>Microsoft Office PowerPoint</Application>
  <PresentationFormat>Widescreen</PresentationFormat>
  <Paragraphs>94</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Goudy Old Style</vt:lpstr>
      <vt:lpstr>Söhne</vt:lpstr>
      <vt:lpstr>Wingdings</vt:lpstr>
      <vt:lpstr>Wingdings 2</vt:lpstr>
      <vt:lpstr>SlateVTI</vt:lpstr>
      <vt:lpstr>Online Hotel Management System</vt:lpstr>
      <vt:lpstr>INTRODUCTION</vt:lpstr>
      <vt:lpstr>KEY COMPONENTS</vt:lpstr>
      <vt:lpstr>IMPORTANCE</vt:lpstr>
      <vt:lpstr>AIM</vt:lpstr>
      <vt:lpstr>OBJECTIVE</vt:lpstr>
      <vt:lpstr>PowerPoint Presentation</vt:lpstr>
      <vt:lpstr>SYSTEM COMPONENTS</vt:lpstr>
      <vt:lpstr>DESIGN CONSTRAINTS</vt:lpstr>
      <vt:lpstr>ARCHITECTURE</vt:lpstr>
      <vt:lpstr>USER INTERFACE</vt:lpstr>
      <vt:lpstr>METHODOLOGY</vt:lpstr>
      <vt:lpstr>PowerPoint Presentation</vt:lpstr>
      <vt:lpstr>PowerPoint Presentation</vt:lpstr>
      <vt:lpstr>RESULTS</vt:lpstr>
      <vt:lpstr>ER Diagram</vt:lpstr>
      <vt:lpstr>ER Diagram</vt:lpstr>
      <vt:lpstr>FUTURE ENHANCEMENT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Hotel Management System</dc:title>
  <dc:creator>ayush tripathi</dc:creator>
  <cp:lastModifiedBy>ayush tripathi</cp:lastModifiedBy>
  <cp:revision>1</cp:revision>
  <dcterms:created xsi:type="dcterms:W3CDTF">2024-05-06T09:11:31Z</dcterms:created>
  <dcterms:modified xsi:type="dcterms:W3CDTF">2024-05-06T11:25:40Z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